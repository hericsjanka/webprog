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63F06E-8ECA-4BF1-BA70-1456CFDCF412}" v="198" dt="2026-02-19T20:17:49.2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23322 9657 16383 0 0,'-5'0'0'0'0,"-8"0"0"0"0,-6 0 0 0 0,-5 0 0 0 0,-4 0 0 0 0,-3 0 0 0 0,-1 6 0 0 0,5 6 0 0 0,7 7 0 0 0,6 5 0 0 0,7 5 0 0 0,9 1 0 0 0,4 2 0 0 0,7-4 0 0 0,6-3 0 0 0,5 1 0 0 0,4-5 0 0 0,3-6 0 0 0,0-5 0 0 0,2-9 0 0 0,4-17 0 0 0,3-9 0 0 0,-2-7 0 0 0,-1-3 0 0 0,-1-1 0 0 0,-13 6 0 0 0,-10 3 0 0 0,-13 5 0 0 0,-11 8 0 0 0,-9 5 0 0 0,-7 4 0 0 0,-4 4 0 0 0,-1 1 0 0 0,-2 1 0 0 0,6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24161 9520 16383 0 0,'-11'0'0'0'0,"-8"0"0"0"0,-7 0 0 0 0,2 5 0 0 0,4 13 0 0 0,6 8 0 0 0,5 5 0 0 0,4 3 0 0 0,3 0 0 0 0,2 1 0 0 0,6-7 0 0 0,8-7 0 0 0,6-8 0 0 0,5-6 0 0 0,4-4 0 0 0,2-2 0 0 0,2-2 0 0 0,-1-1 0 0 0,1 1 0 0 0,-1 0 0 0 0,0 0 0 0 0,-1-5 0 0 0,-5-7 0 0 0,-7-6 0 0 0,-7-6 0 0 0,-5-3 0 0 0,-4-2 0 0 0,-3-2 0 0 0,-1-1 0 0 0,-5 1 0 0 0,-8 0 0 0 0,-6 0 0 0 0,-6 5 0 0 0,-2 8 0 0 0,-3 7 0 0 0,-1 5 0 0 0,-1 4 0 0 0,1 3 0 0 0,-1 1 0 0 0,1 0 0 0 0,1 1 0 0 0,5-1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23252 10370 16383 0 0,'5'5'0'0'0,"7"3"0"0"0,13-2 0 0 0,17 5 0 0 0,7 5 0 0 0,11 11 0 0 0,6 6 0 0 0,7 2 0 0 0,3-4 0 0 0,-7-3 0 0 0,-10-5 0 0 0,-10-7 0 0 0,-7-7 0 0 0,-6-4 0 0 0,-4-3 0 0 0,-2-2 0 0 0,5-1 0 0 0,22 0 0 0 0,8-1 0 0 0,7 1 0 0 0,3 1 0 0 0,-6-6 0 0 0,-9-1 0 0 0,-5-5 0 0 0,-12-6 0 0 0,-7-5 0 0 0,5-4 0 0 0,7-8 0 0 0,1-3 0 0 0,2-11 0 0 0,3-3 0 0 0,-2 3 0 0 0,5-18 0 0 0,0-1 0 0 0,-1-12 0 0 0,-4-2 0 0 0,-11 2 0 0 0,-12 15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23247 9742 16383 0 0,'-6'0'0'0'0,"-6"0"0"0"0,4 0 0 0 0,8 0 0 0 0,10 0 0 0 0,8 0 0 0 0,-4 0 0 0 0,-10 0 0 0 0,-11 0 0 0 0,-9 0 0 0 0,-7 0 0 0 0,-6-6 0 0 0,-2-1 0 0 0,8-5 0 0 0,15 0 0 0 0,13 1 0 0 0,11 3 0 0 0,8 3 0 0 0,6 2 0 0 0,2 2 0 0 0,2 1 0 0 0,0 0 0 0 0,-6 6 0 0 0,-7 7 0 0 0,-8 6 0 0 0,-11 1 0 0 0,-6 1 0 0 0,-7-2 0 0 0,-8-5 0 0 0,-5-4 0 0 0,-5-4 0 0 0,-2-4 0 0 0,5-1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24088 9609 16383 0 0,'6'-5'0'0'0,"6"-13"0"0"0,7-2 0 0 0,0-5 0 0 0,-3-1 0 0 0,-4-4 0 0 0,-10 5 0 0 0,-15 6 0 0 0,-12 6 0 0 0,0 17 0 0 0,3 12 0 0 0,6 9 0 0 0,5 5 0 0 0,5 3 0 0 0,3 2 0 0 0,8-6 0 0 0,7-8 0 0 0,9-7 0 0 0,4-6 0 0 0,4-4 0 0 0,3-4 0 0 0,-5-6 0 0 0,-1-8 0 0 0,-6-6 0 0 0,-5-6 0 0 0,-6-3 0 0 0,-4-2 0 0 0,-9 4 0 0 0,-8 6 0 0 0,2 8 0 0 0,-1 5 0 0 0,6 10 0 0 0,3 9 0 0 0,3 9 0 0 0,1 5 0 0 0,5 5 0 0 0,7 2 0 0 0,1-4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3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Oval 3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Oval 4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228" name="Oval 4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hu-HU" sz="5400">
                <a:solidFill>
                  <a:schemeClr val="bg1"/>
                </a:solidFill>
              </a:rPr>
              <a:t>Weboldal bemutató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 sz="2000">
                <a:solidFill>
                  <a:schemeClr val="bg1"/>
                </a:solidFill>
              </a:rPr>
              <a:t>Készítette: Hérics Janka</a:t>
            </a:r>
          </a:p>
        </p:txBody>
      </p:sp>
      <p:sp>
        <p:nvSpPr>
          <p:cNvPr id="229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30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31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C216D85-59EA-69E2-8B5A-F6820B4A0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hu-HU" sz="4000">
                <a:solidFill>
                  <a:schemeClr val="bg1"/>
                </a:solidFill>
              </a:rPr>
              <a:t>Témaválasztás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EAC6E45-B5F8-051A-08D1-91F35181E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 sz="2400">
                <a:ea typeface="+mn-lt"/>
                <a:cs typeface="+mn-lt"/>
              </a:rPr>
              <a:t>Quentin Tarantino az egyik legismertebb kortárs filmrendező(nagyon szeretem a filmjeit).</a:t>
            </a:r>
            <a:endParaRPr lang="hu-HU" sz="2400"/>
          </a:p>
          <a:p>
            <a:r>
              <a:rPr lang="hu-HU" sz="2400">
                <a:ea typeface="+mn-lt"/>
                <a:cs typeface="+mn-lt"/>
              </a:rPr>
              <a:t>A weboldal célja: a munkásságának bemutatása</a:t>
            </a:r>
            <a:endParaRPr lang="hu-HU" sz="2400"/>
          </a:p>
          <a:p>
            <a:endParaRPr lang="hu-HU" sz="2400"/>
          </a:p>
        </p:txBody>
      </p:sp>
    </p:spTree>
    <p:extLst>
      <p:ext uri="{BB962C8B-B14F-4D97-AF65-F5344CB8AC3E}">
        <p14:creationId xmlns:p14="http://schemas.microsoft.com/office/powerpoint/2010/main" val="3359112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776B46E-4DDA-A016-758A-5EFE8A89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hu-HU" sz="4000">
                <a:solidFill>
                  <a:schemeClr val="bg1"/>
                </a:solidFill>
              </a:rPr>
              <a:t>Oldal: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72B4A31-30B9-FC5A-5376-4FECEB15A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 dirty="0">
                <a:ea typeface="+mn-lt"/>
                <a:cs typeface="+mn-lt"/>
              </a:rPr>
              <a:t>Felépítés:</a:t>
            </a:r>
          </a:p>
          <a:p>
            <a:r>
              <a:rPr lang="hu-HU" sz="2400" dirty="0">
                <a:ea typeface="+mn-lt"/>
                <a:cs typeface="+mn-lt"/>
              </a:rPr>
              <a:t>Több oldalas weboldal: </a:t>
            </a:r>
            <a:r>
              <a:rPr lang="hu-HU" sz="2400" i="1" dirty="0">
                <a:ea typeface="+mn-lt"/>
                <a:cs typeface="+mn-lt"/>
              </a:rPr>
              <a:t>főoldal</a:t>
            </a:r>
            <a:r>
              <a:rPr lang="hu-HU" sz="2400" dirty="0">
                <a:ea typeface="+mn-lt"/>
                <a:cs typeface="+mn-lt"/>
              </a:rPr>
              <a:t>, </a:t>
            </a:r>
            <a:r>
              <a:rPr lang="hu-HU" sz="2400" i="1" dirty="0">
                <a:ea typeface="+mn-lt"/>
                <a:cs typeface="+mn-lt"/>
              </a:rPr>
              <a:t>galéria</a:t>
            </a:r>
            <a:r>
              <a:rPr lang="hu-HU" sz="2400" dirty="0">
                <a:ea typeface="+mn-lt"/>
                <a:cs typeface="+mn-lt"/>
              </a:rPr>
              <a:t>, </a:t>
            </a:r>
            <a:r>
              <a:rPr lang="hu-HU" sz="2400" i="1" dirty="0">
                <a:ea typeface="+mn-lt"/>
                <a:cs typeface="+mn-lt"/>
              </a:rPr>
              <a:t>bemutatkozás</a:t>
            </a:r>
            <a:endParaRPr lang="hu-HU" sz="2400" dirty="0">
              <a:ea typeface="+mn-lt"/>
              <a:cs typeface="+mn-lt"/>
            </a:endParaRPr>
          </a:p>
          <a:p>
            <a:r>
              <a:rPr lang="hu-HU" sz="2400" dirty="0">
                <a:ea typeface="+mn-lt"/>
                <a:cs typeface="+mn-lt"/>
              </a:rPr>
              <a:t>Linkekkel összekötött, áttekinthető navigáció</a:t>
            </a:r>
          </a:p>
          <a:p>
            <a:r>
              <a:rPr lang="hu-HU" sz="2400" dirty="0">
                <a:ea typeface="+mn-lt"/>
                <a:cs typeface="+mn-lt"/>
              </a:rPr>
              <a:t>Témához illő színek és képek</a:t>
            </a:r>
          </a:p>
          <a:p>
            <a:r>
              <a:rPr lang="hu-HU" sz="2400" dirty="0">
                <a:ea typeface="+mn-lt"/>
                <a:cs typeface="+mn-lt"/>
              </a:rPr>
              <a:t>Látvány:</a:t>
            </a:r>
          </a:p>
          <a:p>
            <a:r>
              <a:rPr lang="hu-HU" sz="2400">
                <a:ea typeface="+mn-lt"/>
                <a:cs typeface="+mn-lt"/>
              </a:rPr>
              <a:t>Fekete–vörös színek</a:t>
            </a:r>
          </a:p>
          <a:p>
            <a:r>
              <a:rPr lang="hu-HU" sz="2400" dirty="0">
                <a:ea typeface="+mn-lt"/>
                <a:cs typeface="+mn-lt"/>
              </a:rPr>
              <a:t>Egységes betűtípus (pl. </a:t>
            </a:r>
            <a:r>
              <a:rPr lang="hu-HU" sz="2400" dirty="0" err="1">
                <a:ea typeface="+mn-lt"/>
                <a:cs typeface="+mn-lt"/>
              </a:rPr>
              <a:t>Roboto</a:t>
            </a:r>
            <a:r>
              <a:rPr lang="hu-HU" sz="2400" dirty="0">
                <a:ea typeface="+mn-lt"/>
                <a:cs typeface="+mn-lt"/>
              </a:rPr>
              <a:t> vagy </a:t>
            </a:r>
            <a:r>
              <a:rPr lang="hu-HU" sz="2400" dirty="0" err="1">
                <a:ea typeface="+mn-lt"/>
                <a:cs typeface="+mn-lt"/>
              </a:rPr>
              <a:t>sans</a:t>
            </a:r>
            <a:r>
              <a:rPr lang="hu-HU" sz="2400" dirty="0">
                <a:ea typeface="+mn-lt"/>
                <a:cs typeface="+mn-lt"/>
              </a:rPr>
              <a:t>-serif)</a:t>
            </a:r>
          </a:p>
          <a:p>
            <a:r>
              <a:rPr lang="hu-HU" sz="2400" dirty="0">
                <a:ea typeface="+mn-lt"/>
                <a:cs typeface="+mn-lt"/>
              </a:rPr>
              <a:t>Táblázat</a:t>
            </a:r>
          </a:p>
          <a:p>
            <a:endParaRPr lang="hu-HU" sz="2400"/>
          </a:p>
        </p:txBody>
      </p:sp>
    </p:spTree>
    <p:extLst>
      <p:ext uri="{BB962C8B-B14F-4D97-AF65-F5344CB8AC3E}">
        <p14:creationId xmlns:p14="http://schemas.microsoft.com/office/powerpoint/2010/main" val="1604322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682AD0E-B939-47E4-F692-9C3EA2EE4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hu-HU" sz="4000">
                <a:solidFill>
                  <a:schemeClr val="bg1"/>
                </a:solidFill>
              </a:rPr>
              <a:t>Használt technológiák: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B200C7A-37C7-9585-B9E8-E1FD80633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 sz="2400">
                <a:ea typeface="+mn-lt"/>
                <a:cs typeface="+mn-lt"/>
              </a:rPr>
              <a:t>Használt technológiák:</a:t>
            </a:r>
            <a:endParaRPr lang="hu-HU" sz="2400"/>
          </a:p>
          <a:p>
            <a:r>
              <a:rPr lang="hu-HU" sz="2400">
                <a:ea typeface="+mn-lt"/>
                <a:cs typeface="+mn-lt"/>
              </a:rPr>
              <a:t>HTML5: </a:t>
            </a:r>
            <a:endParaRPr lang="hu-HU" sz="2400"/>
          </a:p>
          <a:p>
            <a:pPr lvl="1"/>
            <a:r>
              <a:rPr lang="hu-HU" dirty="0">
                <a:latin typeface="Consolas"/>
              </a:rPr>
              <a:t>&lt;</a:t>
            </a:r>
            <a:r>
              <a:rPr lang="hu-HU">
                <a:latin typeface="Consolas"/>
              </a:rPr>
              <a:t>header</a:t>
            </a:r>
            <a:r>
              <a:rPr lang="hu-HU" dirty="0">
                <a:latin typeface="Consolas"/>
              </a:rPr>
              <a:t>&gt;</a:t>
            </a:r>
            <a:r>
              <a:rPr lang="hu-HU" dirty="0">
                <a:ea typeface="+mn-lt"/>
                <a:cs typeface="+mn-lt"/>
              </a:rPr>
              <a:t>, </a:t>
            </a:r>
            <a:r>
              <a:rPr lang="hu-HU" dirty="0">
                <a:latin typeface="Consolas"/>
              </a:rPr>
              <a:t>&lt;</a:t>
            </a:r>
            <a:r>
              <a:rPr lang="hu-HU">
                <a:latin typeface="Consolas"/>
              </a:rPr>
              <a:t>nav</a:t>
            </a:r>
            <a:r>
              <a:rPr lang="hu-HU" dirty="0">
                <a:latin typeface="Consolas"/>
              </a:rPr>
              <a:t>&gt;</a:t>
            </a:r>
            <a:r>
              <a:rPr lang="hu-HU" dirty="0">
                <a:ea typeface="+mn-lt"/>
                <a:cs typeface="+mn-lt"/>
              </a:rPr>
              <a:t>, </a:t>
            </a:r>
            <a:r>
              <a:rPr lang="hu-HU" dirty="0">
                <a:latin typeface="Consolas"/>
              </a:rPr>
              <a:t>&lt;</a:t>
            </a:r>
            <a:r>
              <a:rPr lang="hu-HU">
                <a:latin typeface="Consolas"/>
              </a:rPr>
              <a:t>section</a:t>
            </a:r>
            <a:r>
              <a:rPr lang="hu-HU" dirty="0">
                <a:latin typeface="Consolas"/>
              </a:rPr>
              <a:t>&gt;</a:t>
            </a:r>
            <a:r>
              <a:rPr lang="hu-HU" dirty="0">
                <a:ea typeface="+mn-lt"/>
                <a:cs typeface="+mn-lt"/>
              </a:rPr>
              <a:t>, </a:t>
            </a:r>
            <a:r>
              <a:rPr lang="hu-HU" dirty="0">
                <a:latin typeface="Consolas"/>
              </a:rPr>
              <a:t>&lt;</a:t>
            </a:r>
            <a:r>
              <a:rPr lang="hu-HU">
                <a:latin typeface="Consolas"/>
              </a:rPr>
              <a:t>article</a:t>
            </a:r>
            <a:r>
              <a:rPr lang="hu-HU" dirty="0">
                <a:latin typeface="Consolas"/>
              </a:rPr>
              <a:t>&gt;</a:t>
            </a:r>
            <a:r>
              <a:rPr lang="hu-HU" dirty="0">
                <a:ea typeface="+mn-lt"/>
                <a:cs typeface="+mn-lt"/>
              </a:rPr>
              <a:t>, </a:t>
            </a:r>
            <a:r>
              <a:rPr lang="hu-HU" dirty="0">
                <a:latin typeface="Consolas"/>
              </a:rPr>
              <a:t>&lt;</a:t>
            </a:r>
            <a:r>
              <a:rPr lang="hu-HU">
                <a:latin typeface="Consolas"/>
              </a:rPr>
              <a:t>footer</a:t>
            </a:r>
            <a:r>
              <a:rPr lang="hu-HU" dirty="0">
                <a:latin typeface="Consolas"/>
              </a:rPr>
              <a:t>&gt;</a:t>
            </a:r>
            <a:r>
              <a:rPr lang="hu-HU" dirty="0">
                <a:ea typeface="+mn-lt"/>
                <a:cs typeface="+mn-lt"/>
              </a:rPr>
              <a:t> szerkezet</a:t>
            </a:r>
            <a:endParaRPr lang="hu-HU" dirty="0"/>
          </a:p>
          <a:p>
            <a:pPr lvl="1"/>
            <a:r>
              <a:rPr lang="hu-HU" dirty="0">
                <a:ea typeface="+mn-lt"/>
                <a:cs typeface="+mn-lt"/>
              </a:rPr>
              <a:t>táblázatok és felsorolások strukturált tartalomhoz</a:t>
            </a:r>
            <a:endParaRPr lang="hu-HU" dirty="0"/>
          </a:p>
          <a:p>
            <a:r>
              <a:rPr lang="hu-HU" sz="2400">
                <a:ea typeface="+mn-lt"/>
                <a:cs typeface="+mn-lt"/>
              </a:rPr>
              <a:t>CSS3: </a:t>
            </a:r>
            <a:endParaRPr lang="hu-HU" sz="2400"/>
          </a:p>
          <a:p>
            <a:pPr lvl="1"/>
            <a:r>
              <a:rPr lang="hu-HU" dirty="0">
                <a:ea typeface="+mn-lt"/>
                <a:cs typeface="+mn-lt"/>
              </a:rPr>
              <a:t>háttérszínek és tipográfiai stílusok</a:t>
            </a:r>
            <a:endParaRPr lang="hu-HU" dirty="0"/>
          </a:p>
          <a:p>
            <a:pPr lvl="1"/>
            <a:r>
              <a:rPr lang="hu-HU">
                <a:latin typeface="Consolas"/>
              </a:rPr>
              <a:t>hover</a:t>
            </a:r>
            <a:r>
              <a:rPr lang="hu-HU" dirty="0">
                <a:ea typeface="+mn-lt"/>
                <a:cs typeface="+mn-lt"/>
              </a:rPr>
              <a:t> effektusok a navigációs menüben</a:t>
            </a:r>
            <a:endParaRPr lang="hu-HU" dirty="0"/>
          </a:p>
          <a:p>
            <a:pPr lvl="1"/>
            <a:r>
              <a:rPr lang="hu-HU" dirty="0">
                <a:ea typeface="+mn-lt"/>
                <a:cs typeface="+mn-lt"/>
              </a:rPr>
              <a:t>reszponzív elrendezés (</a:t>
            </a:r>
            <a:r>
              <a:rPr lang="hu-HU">
                <a:latin typeface="Consolas"/>
              </a:rPr>
              <a:t>flexbox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 dirty="0">
                <a:latin typeface="Aptos"/>
                <a:ea typeface="+mn-lt"/>
                <a:cs typeface="+mn-lt"/>
              </a:rPr>
              <a:t>és </a:t>
            </a:r>
            <a:r>
              <a:rPr lang="hu-HU">
                <a:latin typeface="Consolas"/>
                <a:ea typeface="+mn-lt"/>
                <a:cs typeface="+mn-lt"/>
              </a:rPr>
              <a:t>grid</a:t>
            </a:r>
            <a:r>
              <a:rPr lang="hu-HU" dirty="0">
                <a:ea typeface="+mn-lt"/>
                <a:cs typeface="+mn-lt"/>
              </a:rPr>
              <a:t>)</a:t>
            </a:r>
            <a:endParaRPr lang="hu-HU" dirty="0"/>
          </a:p>
          <a:p>
            <a:endParaRPr lang="hu-HU" sz="2400"/>
          </a:p>
        </p:txBody>
      </p:sp>
    </p:spTree>
    <p:extLst>
      <p:ext uri="{BB962C8B-B14F-4D97-AF65-F5344CB8AC3E}">
        <p14:creationId xmlns:p14="http://schemas.microsoft.com/office/powerpoint/2010/main" val="3038893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0BF693F-BF10-A3BC-4735-FD67D8CEF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hu-HU" sz="4000">
                <a:solidFill>
                  <a:schemeClr val="bg1"/>
                </a:solidFill>
              </a:rPr>
              <a:t>Fejlesztési lehetőségek: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78DFF42-75A5-FBFB-C9B4-059D00055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>
                <a:ea typeface="+mn-lt"/>
                <a:cs typeface="+mn-lt"/>
              </a:rPr>
              <a:t>Képgaléria bővítése (JavaScript képnézegetővel)</a:t>
            </a:r>
            <a:endParaRPr lang="hu-HU"/>
          </a:p>
          <a:p>
            <a:r>
              <a:rPr lang="hu-HU" dirty="0">
                <a:ea typeface="+mn-lt"/>
                <a:cs typeface="+mn-lt"/>
              </a:rPr>
              <a:t>Részletes filmleírásokhoz külön oldalak</a:t>
            </a:r>
            <a:endParaRPr lang="hu-HU" dirty="0"/>
          </a:p>
          <a:p>
            <a:endParaRPr lang="hu-HU" sz="2400"/>
          </a:p>
        </p:txBody>
      </p:sp>
    </p:spTree>
    <p:extLst>
      <p:ext uri="{BB962C8B-B14F-4D97-AF65-F5344CB8AC3E}">
        <p14:creationId xmlns:p14="http://schemas.microsoft.com/office/powerpoint/2010/main" val="3407077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E476F05-6BFC-570C-8054-9DE000B5B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987F304-F02D-FCFC-5D31-6EBCBF805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sz="4400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E07684F-CB66-BB49-CC49-F63C5660CA68}"/>
              </a:ext>
            </a:extLst>
          </p:cNvPr>
          <p:cNvSpPr txBox="1"/>
          <p:nvPr/>
        </p:nvSpPr>
        <p:spPr>
          <a:xfrm>
            <a:off x="2674175" y="2898189"/>
            <a:ext cx="732247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5400" dirty="0"/>
              <a:t>Köszönöm a figyelmet!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Szabadkéz 12">
                <a:extLst>
                  <a:ext uri="{FF2B5EF4-FFF2-40B4-BE49-F238E27FC236}">
                    <a16:creationId xmlns:a16="http://schemas.microsoft.com/office/drawing/2014/main" id="{35510FFC-0FB8-E7F7-EEF4-5DE152347F52}"/>
                  </a:ext>
                </a:extLst>
              </p14:cNvPr>
              <p14:cNvContentPartPr/>
              <p14:nvPr/>
            </p14:nvContentPartPr>
            <p14:xfrm>
              <a:off x="9400927" y="4524375"/>
              <a:ext cx="148157" cy="99800"/>
            </p14:xfrm>
          </p:contentPart>
        </mc:Choice>
        <mc:Fallback>
          <p:pic>
            <p:nvPicPr>
              <p:cNvPr id="13" name="Szabadkéz 12">
                <a:extLst>
                  <a:ext uri="{FF2B5EF4-FFF2-40B4-BE49-F238E27FC236}">
                    <a16:creationId xmlns:a16="http://schemas.microsoft.com/office/drawing/2014/main" id="{35510FFC-0FB8-E7F7-EEF4-5DE152347F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83349" y="4506425"/>
                <a:ext cx="183672" cy="1353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" name="Szabadkéz 13">
                <a:extLst>
                  <a:ext uri="{FF2B5EF4-FFF2-40B4-BE49-F238E27FC236}">
                    <a16:creationId xmlns:a16="http://schemas.microsoft.com/office/drawing/2014/main" id="{0291977A-AAE3-3E2D-0814-0DE88259EC0F}"/>
                  </a:ext>
                </a:extLst>
              </p14:cNvPr>
              <p14:cNvContentPartPr/>
              <p14:nvPr/>
            </p14:nvContentPartPr>
            <p14:xfrm>
              <a:off x="9893006" y="4398805"/>
              <a:ext cx="138539" cy="128047"/>
            </p14:xfrm>
          </p:contentPart>
        </mc:Choice>
        <mc:Fallback>
          <p:pic>
            <p:nvPicPr>
              <p:cNvPr id="14" name="Szabadkéz 13">
                <a:extLst>
                  <a:ext uri="{FF2B5EF4-FFF2-40B4-BE49-F238E27FC236}">
                    <a16:creationId xmlns:a16="http://schemas.microsoft.com/office/drawing/2014/main" id="{0291977A-AAE3-3E2D-0814-0DE88259EC0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75061" y="4380871"/>
                <a:ext cx="174071" cy="1635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Szabadkéz 14">
                <a:extLst>
                  <a:ext uri="{FF2B5EF4-FFF2-40B4-BE49-F238E27FC236}">
                    <a16:creationId xmlns:a16="http://schemas.microsoft.com/office/drawing/2014/main" id="{332AFD69-520E-7BC3-7AC3-4029CF15A9D6}"/>
                  </a:ext>
                </a:extLst>
              </p14:cNvPr>
              <p14:cNvContentPartPr/>
              <p14:nvPr/>
            </p14:nvContentPartPr>
            <p14:xfrm>
              <a:off x="9480176" y="4632859"/>
              <a:ext cx="676686" cy="274650"/>
            </p14:xfrm>
          </p:contentPart>
        </mc:Choice>
        <mc:Fallback>
          <p:pic>
            <p:nvPicPr>
              <p:cNvPr id="15" name="Szabadkéz 14">
                <a:extLst>
                  <a:ext uri="{FF2B5EF4-FFF2-40B4-BE49-F238E27FC236}">
                    <a16:creationId xmlns:a16="http://schemas.microsoft.com/office/drawing/2014/main" id="{332AFD69-520E-7BC3-7AC3-4029CF15A9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62548" y="4614885"/>
                <a:ext cx="712301" cy="3102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Szabadkéz 15">
                <a:extLst>
                  <a:ext uri="{FF2B5EF4-FFF2-40B4-BE49-F238E27FC236}">
                    <a16:creationId xmlns:a16="http://schemas.microsoft.com/office/drawing/2014/main" id="{7FDC1852-3C81-61CA-A1BA-5DC25193D75F}"/>
                  </a:ext>
                </a:extLst>
              </p14:cNvPr>
              <p14:cNvContentPartPr/>
              <p14:nvPr/>
            </p14:nvContentPartPr>
            <p14:xfrm>
              <a:off x="9415687" y="4534690"/>
              <a:ext cx="86118" cy="47231"/>
            </p14:xfrm>
          </p:contentPart>
        </mc:Choice>
        <mc:Fallback>
          <p:pic>
            <p:nvPicPr>
              <p:cNvPr id="16" name="Szabadkéz 15">
                <a:extLst>
                  <a:ext uri="{FF2B5EF4-FFF2-40B4-BE49-F238E27FC236}">
                    <a16:creationId xmlns:a16="http://schemas.microsoft.com/office/drawing/2014/main" id="{7FDC1852-3C81-61CA-A1BA-5DC25193D75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98105" y="4517157"/>
                <a:ext cx="121642" cy="826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Szabadkéz 16">
                <a:extLst>
                  <a:ext uri="{FF2B5EF4-FFF2-40B4-BE49-F238E27FC236}">
                    <a16:creationId xmlns:a16="http://schemas.microsoft.com/office/drawing/2014/main" id="{E69B9E01-0853-1E59-7F08-3525D58EFABB}"/>
                  </a:ext>
                </a:extLst>
              </p14:cNvPr>
              <p14:cNvContentPartPr/>
              <p14:nvPr/>
            </p14:nvContentPartPr>
            <p14:xfrm>
              <a:off x="9904408" y="4403236"/>
              <a:ext cx="81243" cy="78774"/>
            </p14:xfrm>
          </p:contentPart>
        </mc:Choice>
        <mc:Fallback>
          <p:pic>
            <p:nvPicPr>
              <p:cNvPr id="17" name="Szabadkéz 16">
                <a:extLst>
                  <a:ext uri="{FF2B5EF4-FFF2-40B4-BE49-F238E27FC236}">
                    <a16:creationId xmlns:a16="http://schemas.microsoft.com/office/drawing/2014/main" id="{E69B9E01-0853-1E59-7F08-3525D58EFAB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86871" y="4385333"/>
                <a:ext cx="116675" cy="11422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7530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6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7" baseType="lpstr">
      <vt:lpstr>Office-téma</vt:lpstr>
      <vt:lpstr>Weboldal bemutató</vt:lpstr>
      <vt:lpstr>Témaválasztás</vt:lpstr>
      <vt:lpstr>Oldal:</vt:lpstr>
      <vt:lpstr>Használt technológiák:</vt:lpstr>
      <vt:lpstr>Fejlesztési lehetőségek: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65</cp:revision>
  <dcterms:created xsi:type="dcterms:W3CDTF">2026-02-19T19:56:56Z</dcterms:created>
  <dcterms:modified xsi:type="dcterms:W3CDTF">2026-02-19T20:18:17Z</dcterms:modified>
</cp:coreProperties>
</file>